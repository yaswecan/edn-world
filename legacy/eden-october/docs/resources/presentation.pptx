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1er octobre 2026 · Coder, raisonner, tester.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Diagnostic formatif du cours précédent. Les élèves écrivent tout le code. Console, aperçu et cas tests sont disponibles, sans solution fournie. Le premier essai et les indices sont conservés. Le total /20 sera une pré-correction à relire, pas une preuve d’autonomie.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Exécuter lance le programme de l’élève. Vérifier les cas teste aussi d’autres arguments. Les tests ne remplissent pas l’éditeur. En cas de blocage, « À reprendre » permet de continuer sans attribuer la réussite. Respecter les 20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Après remise : faire dire « je déclare une fonction, je l’appelle avec des arguments, return renvoie et une variable garde ». Afficher n’est pas retourner. Montrer le premier essai puis la correction, sans en faire un classement.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résultat de comparaison est un booléen. Le texte "true" n’est pas le booléen true.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voter avant d’afficher le résultat : false, puis true.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les écrans de la mission 1. L’élève doit justifier au moins un résultat.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interrupteurs en série sont une métaphore logique, pas un cours d’électricité.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 01, 10, 11. Pour ET : faux, faux, faux, vrai.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jouer les quatre cas avant la table sans modèle. Demander : quel seul false bloque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OU inclusif est différent du « l’un ou l’autre seulement » du langage courant.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tester explicitement true || true. La réponse est true.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Horaires du jeudi non fournis : régler le début de séance ou utiliser les durées relatives.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Inversion d’un booléen : !false est true, !true est false.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introduire une table de priorités : demander ce que le NON doit inverser.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nommer les trois étapes : OU ; NON ; ET. Le lieu fermé doit toujours refuser.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papier ou écran, couvrir tous les cas. Un exemple favorable ne prouve rien à lui seul.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 vraie : OK. Sinon : REFUS. Les deux branches ne sont pas exécutées ensemble.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mini-labo encadré accepte les comparaisons, ET/OU/NON et if/else + console.log. Pas de DOM ni de boucle ici.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comparer attendu et observé avant la réparation. Chercher le contre-exemple true/false.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Réparer OU → ET, puis &gt; → &gt;=. Demander les entrées exactes qui ont révélé chaque erreur.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Rythme différencié : vérifier le niveau 1, accompagner le niveau 2, laisser les plus rapides réaliser le niveau 3. Aucun zéro de diagnostic lié à ces exercices. Le défi bonus vient après le bilan.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PM-09 après les apprentissages ; diagnostic distinct en entrée. Ce choix pédagogique est explicite dans la trame.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Récupérer les preuves, pas seulement le nombre de clics. Ne pas imposer le bonus à toute la classe.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après le point de maîtrise et le bilan. On peut reprendre plus tard ; ne pas dépasser la fin de séance.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Bonus facultatif : accesParc. Ne pas dépasser l’horaire pour finir. Tester les 24 cas (3 âges × 8 combinaisons).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LOGIQUE &amp; JAVASCRIPT</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Deux règles. Une décision.</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S04 · Logique booléenne et conditions combinées</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 / 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T+0–20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20 minutes. Quatre programmes.</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3 min : lancer · 4 min : transmettre · 5 min : renvoyer · 6 min : réutiliser · 2 min : remettre</a:t>
            </a:r>
          </a:p>
        </p:txBody>
      </p:sp>
      <p:sp>
        <p:nvSpPr>
          <p:cNvPr id="8" name="Rounded Rectangle 7"/>
          <p:cNvSpPr/>
          <p:nvPr/>
        </p:nvSpPr>
        <p:spPr>
          <a:xfrm>
            <a:off x="603504" y="2852928"/>
            <a:ext cx="2587752" cy="214884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3054096"/>
            <a:ext cx="2103120" cy="365760"/>
          </a:xfrm>
          <a:prstGeom prst="rect">
            <a:avLst/>
          </a:prstGeom>
          <a:noFill/>
        </p:spPr>
        <p:txBody>
          <a:bodyPr wrap="square" lIns="0" tIns="0" rIns="0">
            <a:spAutoFit/>
          </a:bodyPr>
          <a:lstStyle/>
          <a:p>
            <a:pPr>
              <a:spcAft>
                <a:spcPts val="0"/>
              </a:spcAft>
              <a:defRPr sz="1600" b="1">
                <a:solidFill>
                  <a:srgbClr val="526A72"/>
                </a:solidFill>
                <a:latin typeface="Inter"/>
              </a:defRPr>
            </a:pPr>
            <a:r>
              <a:t>3 min</a:t>
            </a:r>
          </a:p>
        </p:txBody>
      </p:sp>
      <p:sp>
        <p:nvSpPr>
          <p:cNvPr id="10" name="TextBox 9"/>
          <p:cNvSpPr txBox="1"/>
          <p:nvPr/>
        </p:nvSpPr>
        <p:spPr>
          <a:xfrm>
            <a:off x="786384" y="3621024"/>
            <a:ext cx="2240280" cy="411480"/>
          </a:xfrm>
          <a:prstGeom prst="rect">
            <a:avLst/>
          </a:prstGeom>
          <a:noFill/>
        </p:spPr>
        <p:txBody>
          <a:bodyPr wrap="square" lIns="0" tIns="0" rIns="0">
            <a:spAutoFit/>
          </a:bodyPr>
          <a:lstStyle/>
          <a:p>
            <a:pPr>
              <a:spcAft>
                <a:spcPts val="0"/>
              </a:spcAft>
              <a:defRPr sz="2200" b="1">
                <a:solidFill>
                  <a:srgbClr val="142C34"/>
                </a:solidFill>
                <a:latin typeface="Inter"/>
              </a:defRPr>
            </a:pPr>
            <a:r>
              <a:t>Lancer</a:t>
            </a:r>
          </a:p>
        </p:txBody>
      </p:sp>
      <p:sp>
        <p:nvSpPr>
          <p:cNvPr id="11" name="TextBox 10"/>
          <p:cNvSpPr txBox="1"/>
          <p:nvPr/>
        </p:nvSpPr>
        <p:spPr>
          <a:xfrm>
            <a:off x="786384" y="4297680"/>
            <a:ext cx="2240280" cy="566928"/>
          </a:xfrm>
          <a:prstGeom prst="rect">
            <a:avLst/>
          </a:prstGeom>
          <a:noFill/>
        </p:spPr>
        <p:txBody>
          <a:bodyPr wrap="square" lIns="0" tIns="0" rIns="0">
            <a:spAutoFit/>
          </a:bodyPr>
          <a:lstStyle/>
          <a:p>
            <a:pPr>
              <a:spcAft>
                <a:spcPts val="0"/>
              </a:spcAft>
              <a:defRPr sz="1400" b="0">
                <a:solidFill>
                  <a:srgbClr val="142C34"/>
                </a:solidFill>
                <a:latin typeface="Inter"/>
              </a:defRPr>
            </a:pPr>
            <a:r>
              <a:t>annoncerDepart()</a:t>
            </a:r>
          </a:p>
        </p:txBody>
      </p:sp>
      <p:sp>
        <p:nvSpPr>
          <p:cNvPr id="12" name="Rounded Rectangle 11"/>
          <p:cNvSpPr/>
          <p:nvPr/>
        </p:nvSpPr>
        <p:spPr>
          <a:xfrm>
            <a:off x="3410712" y="2852928"/>
            <a:ext cx="2587752" cy="214884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3054096"/>
            <a:ext cx="2103120" cy="365760"/>
          </a:xfrm>
          <a:prstGeom prst="rect">
            <a:avLst/>
          </a:prstGeom>
          <a:noFill/>
        </p:spPr>
        <p:txBody>
          <a:bodyPr wrap="square" lIns="0" tIns="0" rIns="0">
            <a:spAutoFit/>
          </a:bodyPr>
          <a:lstStyle/>
          <a:p>
            <a:pPr>
              <a:spcAft>
                <a:spcPts val="0"/>
              </a:spcAft>
              <a:defRPr sz="1600" b="1">
                <a:solidFill>
                  <a:srgbClr val="526A72"/>
                </a:solidFill>
                <a:latin typeface="Inter"/>
              </a:defRPr>
            </a:pPr>
            <a:r>
              <a:t>4 min</a:t>
            </a:r>
          </a:p>
        </p:txBody>
      </p:sp>
      <p:sp>
        <p:nvSpPr>
          <p:cNvPr id="14" name="TextBox 13"/>
          <p:cNvSpPr txBox="1"/>
          <p:nvPr/>
        </p:nvSpPr>
        <p:spPr>
          <a:xfrm>
            <a:off x="3593592" y="3621024"/>
            <a:ext cx="2240280" cy="411480"/>
          </a:xfrm>
          <a:prstGeom prst="rect">
            <a:avLst/>
          </a:prstGeom>
          <a:noFill/>
        </p:spPr>
        <p:txBody>
          <a:bodyPr wrap="square" lIns="0" tIns="0" rIns="0">
            <a:spAutoFit/>
          </a:bodyPr>
          <a:lstStyle/>
          <a:p>
            <a:pPr>
              <a:spcAft>
                <a:spcPts val="0"/>
              </a:spcAft>
              <a:defRPr sz="2200" b="1">
                <a:solidFill>
                  <a:srgbClr val="142C34"/>
                </a:solidFill>
                <a:latin typeface="Inter"/>
              </a:defRPr>
            </a:pPr>
            <a:r>
              <a:t>Transmettre</a:t>
            </a:r>
          </a:p>
        </p:txBody>
      </p:sp>
      <p:sp>
        <p:nvSpPr>
          <p:cNvPr id="15" name="TextBox 14"/>
          <p:cNvSpPr txBox="1"/>
          <p:nvPr/>
        </p:nvSpPr>
        <p:spPr>
          <a:xfrm>
            <a:off x="3593592" y="4297680"/>
            <a:ext cx="2240280" cy="566928"/>
          </a:xfrm>
          <a:prstGeom prst="rect">
            <a:avLst/>
          </a:prstGeom>
          <a:noFill/>
        </p:spPr>
        <p:txBody>
          <a:bodyPr wrap="square" lIns="0" tIns="0" rIns="0">
            <a:spAutoFit/>
          </a:bodyPr>
          <a:lstStyle/>
          <a:p>
            <a:pPr>
              <a:spcAft>
                <a:spcPts val="0"/>
              </a:spcAft>
              <a:defRPr sz="1400" b="0">
                <a:solidFill>
                  <a:srgbClr val="142C34"/>
                </a:solidFill>
                <a:latin typeface="Inter"/>
              </a:defRPr>
            </a:pPr>
            <a:r>
              <a:t>saluer(prenom)</a:t>
            </a:r>
          </a:p>
        </p:txBody>
      </p:sp>
      <p:sp>
        <p:nvSpPr>
          <p:cNvPr id="16" name="Rounded Rectangle 15"/>
          <p:cNvSpPr/>
          <p:nvPr/>
        </p:nvSpPr>
        <p:spPr>
          <a:xfrm>
            <a:off x="6217920" y="2852928"/>
            <a:ext cx="2587752" cy="214884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054096"/>
            <a:ext cx="2103120" cy="365760"/>
          </a:xfrm>
          <a:prstGeom prst="rect">
            <a:avLst/>
          </a:prstGeom>
          <a:noFill/>
        </p:spPr>
        <p:txBody>
          <a:bodyPr wrap="square" lIns="0" tIns="0" rIns="0">
            <a:spAutoFit/>
          </a:bodyPr>
          <a:lstStyle/>
          <a:p>
            <a:pPr>
              <a:spcAft>
                <a:spcPts val="0"/>
              </a:spcAft>
              <a:defRPr sz="1600" b="1">
                <a:solidFill>
                  <a:srgbClr val="526A72"/>
                </a:solidFill>
                <a:latin typeface="Inter"/>
              </a:defRPr>
            </a:pPr>
            <a:r>
              <a:t>5 min</a:t>
            </a:r>
          </a:p>
        </p:txBody>
      </p:sp>
      <p:sp>
        <p:nvSpPr>
          <p:cNvPr id="18" name="TextBox 17"/>
          <p:cNvSpPr txBox="1"/>
          <p:nvPr/>
        </p:nvSpPr>
        <p:spPr>
          <a:xfrm>
            <a:off x="6400800" y="3621024"/>
            <a:ext cx="2240280" cy="411480"/>
          </a:xfrm>
          <a:prstGeom prst="rect">
            <a:avLst/>
          </a:prstGeom>
          <a:noFill/>
        </p:spPr>
        <p:txBody>
          <a:bodyPr wrap="square" lIns="0" tIns="0" rIns="0">
            <a:spAutoFit/>
          </a:bodyPr>
          <a:lstStyle/>
          <a:p>
            <a:pPr>
              <a:spcAft>
                <a:spcPts val="0"/>
              </a:spcAft>
              <a:defRPr sz="2200" b="1">
                <a:solidFill>
                  <a:srgbClr val="142C34"/>
                </a:solidFill>
                <a:latin typeface="Inter"/>
              </a:defRPr>
            </a:pPr>
            <a:r>
              <a:t>Renvoyer</a:t>
            </a:r>
          </a:p>
        </p:txBody>
      </p:sp>
      <p:sp>
        <p:nvSpPr>
          <p:cNvPr id="19" name="TextBox 18"/>
          <p:cNvSpPr txBox="1"/>
          <p:nvPr/>
        </p:nvSpPr>
        <p:spPr>
          <a:xfrm>
            <a:off x="6400800" y="4297680"/>
            <a:ext cx="2240280" cy="566928"/>
          </a:xfrm>
          <a:prstGeom prst="rect">
            <a:avLst/>
          </a:prstGeom>
          <a:noFill/>
        </p:spPr>
        <p:txBody>
          <a:bodyPr wrap="square" lIns="0" tIns="0" rIns="0">
            <a:spAutoFit/>
          </a:bodyPr>
          <a:lstStyle/>
          <a:p>
            <a:pPr>
              <a:spcAft>
                <a:spcPts val="0"/>
              </a:spcAft>
              <a:defRPr sz="1400" b="0">
                <a:solidFill>
                  <a:srgbClr val="142C34"/>
                </a:solidFill>
                <a:latin typeface="Inter"/>
              </a:defRPr>
            </a:pPr>
            <a:r>
              <a:t>doubler(nombre)</a:t>
            </a:r>
          </a:p>
        </p:txBody>
      </p:sp>
      <p:sp>
        <p:nvSpPr>
          <p:cNvPr id="20" name="Rounded Rectangle 19"/>
          <p:cNvSpPr/>
          <p:nvPr/>
        </p:nvSpPr>
        <p:spPr>
          <a:xfrm>
            <a:off x="9025128" y="2852928"/>
            <a:ext cx="2587752" cy="214884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8007" y="3054096"/>
            <a:ext cx="2103120" cy="365760"/>
          </a:xfrm>
          <a:prstGeom prst="rect">
            <a:avLst/>
          </a:prstGeom>
          <a:noFill/>
        </p:spPr>
        <p:txBody>
          <a:bodyPr wrap="square" lIns="0" tIns="0" rIns="0">
            <a:spAutoFit/>
          </a:bodyPr>
          <a:lstStyle/>
          <a:p>
            <a:pPr>
              <a:spcAft>
                <a:spcPts val="0"/>
              </a:spcAft>
              <a:defRPr sz="1600" b="1">
                <a:solidFill>
                  <a:srgbClr val="526A72"/>
                </a:solidFill>
                <a:latin typeface="Inter"/>
              </a:defRPr>
            </a:pPr>
            <a:r>
              <a:t>6 min</a:t>
            </a:r>
          </a:p>
        </p:txBody>
      </p:sp>
      <p:sp>
        <p:nvSpPr>
          <p:cNvPr id="22" name="TextBox 21"/>
          <p:cNvSpPr txBox="1"/>
          <p:nvPr/>
        </p:nvSpPr>
        <p:spPr>
          <a:xfrm>
            <a:off x="9208007" y="3621024"/>
            <a:ext cx="2240280" cy="411480"/>
          </a:xfrm>
          <a:prstGeom prst="rect">
            <a:avLst/>
          </a:prstGeom>
          <a:noFill/>
        </p:spPr>
        <p:txBody>
          <a:bodyPr wrap="square" lIns="0" tIns="0" rIns="0">
            <a:spAutoFit/>
          </a:bodyPr>
          <a:lstStyle/>
          <a:p>
            <a:pPr>
              <a:spcAft>
                <a:spcPts val="0"/>
              </a:spcAft>
              <a:defRPr sz="2200" b="1">
                <a:solidFill>
                  <a:srgbClr val="142C34"/>
                </a:solidFill>
                <a:latin typeface="Inter"/>
              </a:defRPr>
            </a:pPr>
            <a:r>
              <a:t>Réutiliser</a:t>
            </a:r>
          </a:p>
        </p:txBody>
      </p:sp>
      <p:sp>
        <p:nvSpPr>
          <p:cNvPr id="23" name="TextBox 22"/>
          <p:cNvSpPr txBox="1"/>
          <p:nvPr/>
        </p:nvSpPr>
        <p:spPr>
          <a:xfrm>
            <a:off x="9208007" y="4297680"/>
            <a:ext cx="2240280" cy="566928"/>
          </a:xfrm>
          <a:prstGeom prst="rect">
            <a:avLst/>
          </a:prstGeom>
          <a:noFill/>
        </p:spPr>
        <p:txBody>
          <a:bodyPr wrap="square" lIns="0" tIns="0" rIns="0">
            <a:spAutoFit/>
          </a:bodyPr>
          <a:lstStyle/>
          <a:p>
            <a:pPr>
              <a:spcAft>
                <a:spcPts val="0"/>
              </a:spcAft>
              <a:defRPr sz="1400" b="0">
                <a:solidFill>
                  <a:srgbClr val="142C34"/>
                </a:solidFill>
                <a:latin typeface="Inter"/>
              </a:defRPr>
            </a:pPr>
            <a:r>
              <a:t>additionner(a, b)</a:t>
            </a:r>
          </a:p>
        </p:txBody>
      </p:sp>
      <p:sp>
        <p:nvSpPr>
          <p:cNvPr id="24" name="TextBox 23"/>
          <p:cNvSpPr txBox="1"/>
          <p:nvPr/>
        </p:nvSpPr>
        <p:spPr>
          <a:xfrm>
            <a:off x="658368" y="5431536"/>
            <a:ext cx="10789920" cy="548640"/>
          </a:xfrm>
          <a:prstGeom prst="rect">
            <a:avLst/>
          </a:prstGeom>
          <a:noFill/>
        </p:spPr>
        <p:txBody>
          <a:bodyPr wrap="square" lIns="0" tIns="0" rIns="0">
            <a:spAutoFit/>
          </a:bodyPr>
          <a:lstStyle/>
          <a:p>
            <a:pPr>
              <a:spcAft>
                <a:spcPts val="0"/>
              </a:spcAft>
              <a:defRPr sz="1800" b="1">
                <a:solidFill>
                  <a:srgbClr val="142C34"/>
                </a:solidFill>
                <a:latin typeface="Inter"/>
              </a:defRPr>
            </a:pPr>
            <a:r>
              <a:t>Puis 2 minutes : conserver le travail, remettre, vérifier le reçu.</a:t>
            </a:r>
          </a:p>
        </p:txBody>
      </p:sp>
      <p:sp>
        <p:nvSpPr>
          <p:cNvPr id="25" name="TextBox 24"/>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26" name="TextBox 25"/>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T+0–20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Écris → exécute → compare.</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Un test raté donne une piste. Corrige, puis teste à nouveau.</a:t>
            </a:r>
          </a:p>
        </p:txBody>
      </p:sp>
      <p:pic>
        <p:nvPicPr>
          <p:cNvPr id="8" name="Picture 7" descr="image.png"/>
          <p:cNvPicPr>
            <a:picLocks noChangeAspect="1"/>
          </p:cNvPicPr>
          <p:nvPr/>
        </p:nvPicPr>
        <p:blipFill>
          <a:blip r:embed="rId3"/>
          <a:stretch>
            <a:fillRect/>
          </a:stretch>
        </p:blipFill>
        <p:spPr>
          <a:xfrm>
            <a:off x="2819715" y="2743200"/>
            <a:ext cx="6552265"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3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T+20–25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Afficher ≠ renvoyer.</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Une sortie visible. Une valeur à réutiliser.</a:t>
            </a:r>
          </a:p>
        </p:txBody>
      </p:sp>
      <p:pic>
        <p:nvPicPr>
          <p:cNvPr id="8" name="Picture 7" descr="image.png"/>
          <p:cNvPicPr>
            <a:picLocks noChangeAspect="1"/>
          </p:cNvPicPr>
          <p:nvPr/>
        </p:nvPicPr>
        <p:blipFill>
          <a:blip r:embed="rId3"/>
          <a:stretch>
            <a:fillRect/>
          </a:stretch>
        </p:blipFill>
        <p:spPr>
          <a:xfrm>
            <a:off x="2819715" y="2743200"/>
            <a:ext cx="6552265"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T+25–40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Un booléen : deux valeurs.</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true ou false. Pas « peut-être ».</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T+25–40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Le piège du seuil.</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20 &gt; 20 ?  20 &gt;= 20 ?</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T+25–40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À toi : comparer.</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Testez juste avant, au seuil, juste après.</a:t>
            </a:r>
          </a:p>
        </p:txBody>
      </p:sp>
      <p:sp>
        <p:nvSpPr>
          <p:cNvPr id="8" name="Rounded Rectangle 7"/>
          <p:cNvSpPr/>
          <p:nvPr/>
        </p:nvSpPr>
        <p:spPr>
          <a:xfrm>
            <a:off x="1188720" y="2944368"/>
            <a:ext cx="9784080" cy="228600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3703320"/>
            <a:ext cx="9144000" cy="822960"/>
          </a:xfrm>
          <a:prstGeom prst="rect">
            <a:avLst/>
          </a:prstGeom>
          <a:noFill/>
        </p:spPr>
        <p:txBody>
          <a:bodyPr wrap="square" lIns="0" tIns="0" rIns="0">
            <a:spAutoFit/>
          </a:bodyPr>
          <a:lstStyle/>
          <a:p>
            <a:pPr algn="ctr">
              <a:spcAft>
                <a:spcPts val="0"/>
              </a:spcAft>
              <a:defRPr sz="3400" b="1">
                <a:solidFill>
                  <a:srgbClr val="142C34"/>
                </a:solidFill>
                <a:latin typeface="Inter"/>
              </a:defRPr>
            </a:pPr>
            <a:r>
              <a:t>À toi de jouer.</a:t>
            </a:r>
          </a:p>
        </p:txBody>
      </p:sp>
      <p:sp>
        <p:nvSpPr>
          <p:cNvPr id="10" name="TextBox 9"/>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1" name="TextBox 10"/>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T+40–55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ET : les deux.</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Carte ET réservation.</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T+40–55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Ne teste pas seulement « oui ».</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Quatre combinaisons à vérifier.</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T+40–55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À toi : ouvrir la salle.</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Prévois → manipule → vérifie.</a:t>
            </a:r>
          </a:p>
        </p:txBody>
      </p:sp>
      <p:sp>
        <p:nvSpPr>
          <p:cNvPr id="8" name="Rounded Rectangle 7"/>
          <p:cNvSpPr/>
          <p:nvPr/>
        </p:nvSpPr>
        <p:spPr>
          <a:xfrm>
            <a:off x="1188720" y="2944368"/>
            <a:ext cx="9784080" cy="228600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3703320"/>
            <a:ext cx="9144000" cy="822960"/>
          </a:xfrm>
          <a:prstGeom prst="rect">
            <a:avLst/>
          </a:prstGeom>
          <a:noFill/>
        </p:spPr>
        <p:txBody>
          <a:bodyPr wrap="square" lIns="0" tIns="0" rIns="0">
            <a:spAutoFit/>
          </a:bodyPr>
          <a:lstStyle/>
          <a:p>
            <a:pPr algn="ctr">
              <a:spcAft>
                <a:spcPts val="0"/>
              </a:spcAft>
              <a:defRPr sz="3400" b="1">
                <a:solidFill>
                  <a:srgbClr val="142C34"/>
                </a:solidFill>
                <a:latin typeface="Inter"/>
              </a:defRPr>
            </a:pPr>
            <a:r>
              <a:t>À toi de jouer.</a:t>
            </a:r>
          </a:p>
        </p:txBody>
      </p:sp>
      <p:sp>
        <p:nvSpPr>
          <p:cNvPr id="10" name="TextBox 9"/>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1" name="TextBox 10"/>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T+55–65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OU : au moins un.</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Ticket, invitation… ou les deux.</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T+55–65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Et si les deux sont vrais ?</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Le OU accepte encore.</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T+65–80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Pause · 15 min</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Reprends à l’annonce du professeur.</a:t>
            </a:r>
          </a:p>
        </p:txBody>
      </p:sp>
      <p:sp>
        <p:nvSpPr>
          <p:cNvPr id="8" name="Rounded Rectangle 7"/>
          <p:cNvSpPr/>
          <p:nvPr/>
        </p:nvSpPr>
        <p:spPr>
          <a:xfrm>
            <a:off x="1188720" y="2944368"/>
            <a:ext cx="9784080" cy="228600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3703320"/>
            <a:ext cx="9144000" cy="822960"/>
          </a:xfrm>
          <a:prstGeom prst="rect">
            <a:avLst/>
          </a:prstGeom>
          <a:noFill/>
        </p:spPr>
        <p:txBody>
          <a:bodyPr wrap="square" lIns="0" tIns="0" rIns="0">
            <a:spAutoFit/>
          </a:bodyPr>
          <a:lstStyle/>
          <a:p>
            <a:pPr algn="ctr">
              <a:spcAft>
                <a:spcPts val="0"/>
              </a:spcAft>
              <a:defRPr sz="3400" b="1">
                <a:solidFill>
                  <a:srgbClr val="142C34"/>
                </a:solidFill>
                <a:latin typeface="Inter"/>
              </a:defRPr>
            </a:pPr>
            <a:r>
              <a:t>15 minutes de pause</a:t>
            </a:r>
          </a:p>
        </p:txBody>
      </p:sp>
      <p:sp>
        <p:nvSpPr>
          <p:cNvPr id="10" name="TextBox 9"/>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1" name="TextBox 10"/>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T+80–90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NON : inverser.</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!estFerme se lit « pas fermé ».</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T+80–90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Les parenthèses délimitent.</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!(A &amp;&amp; B) n’est pas !A &amp;&amp; B.</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T+90–110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On combine les règles.</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(ticket OU invitation) ET NON fermé.</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T+90–110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Huit cas. Pas de devinette.</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Trois booléens → huit combinaisons.</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T+90–110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if / else choisit un chemin.</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Une condition. Deux messages.</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T+90–110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À toi : passer au code.</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Le cadre est fourni. Écris la condition.</a:t>
            </a:r>
          </a:p>
        </p:txBody>
      </p:sp>
      <p:sp>
        <p:nvSpPr>
          <p:cNvPr id="8" name="Rounded Rectangle 7"/>
          <p:cNvSpPr/>
          <p:nvPr/>
        </p:nvSpPr>
        <p:spPr>
          <a:xfrm>
            <a:off x="1188720" y="2944368"/>
            <a:ext cx="9784080" cy="228600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3703320"/>
            <a:ext cx="9144000" cy="822960"/>
          </a:xfrm>
          <a:prstGeom prst="rect">
            <a:avLst/>
          </a:prstGeom>
          <a:noFill/>
        </p:spPr>
        <p:txBody>
          <a:bodyPr wrap="square" lIns="0" tIns="0" rIns="0">
            <a:spAutoFit/>
          </a:bodyPr>
          <a:lstStyle/>
          <a:p>
            <a:pPr algn="ctr">
              <a:spcAft>
                <a:spcPts val="0"/>
              </a:spcAft>
              <a:defRPr sz="3400" b="1">
                <a:solidFill>
                  <a:srgbClr val="142C34"/>
                </a:solidFill>
                <a:latin typeface="Inter"/>
              </a:defRPr>
            </a:pPr>
            <a:r>
              <a:t>À toi de jouer.</a:t>
            </a:r>
          </a:p>
        </p:txBody>
      </p:sp>
      <p:sp>
        <p:nvSpPr>
          <p:cNvPr id="10" name="TextBox 9"/>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1" name="TextBox 10"/>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T+110–125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Trouve le cas qui casse.</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Le programme accepte une carte seule.</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T+110–125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Répare, puis reteste.</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Un changement. Tous les cas.</a:t>
            </a:r>
          </a:p>
        </p:txBody>
      </p:sp>
      <p:sp>
        <p:nvSpPr>
          <p:cNvPr id="8" name="Rounded Rectangle 7"/>
          <p:cNvSpPr/>
          <p:nvPr/>
        </p:nvSpPr>
        <p:spPr>
          <a:xfrm>
            <a:off x="1188720" y="2944368"/>
            <a:ext cx="9784080" cy="228600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3703320"/>
            <a:ext cx="9144000" cy="822960"/>
          </a:xfrm>
          <a:prstGeom prst="rect">
            <a:avLst/>
          </a:prstGeom>
          <a:noFill/>
        </p:spPr>
        <p:txBody>
          <a:bodyPr wrap="square" lIns="0" tIns="0" rIns="0">
            <a:spAutoFit/>
          </a:bodyPr>
          <a:lstStyle/>
          <a:p>
            <a:pPr algn="ctr">
              <a:spcAft>
                <a:spcPts val="0"/>
              </a:spcAft>
              <a:defRPr sz="3400" b="1">
                <a:solidFill>
                  <a:srgbClr val="142C34"/>
                </a:solidFill>
                <a:latin typeface="Inter"/>
              </a:defRPr>
            </a:pPr>
            <a:r>
              <a:t>À toi de jouer.</a:t>
            </a:r>
          </a:p>
        </p:txBody>
      </p:sp>
      <p:sp>
        <p:nvSpPr>
          <p:cNvPr id="10" name="TextBox 9"/>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1" name="TextBox 10"/>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T+125–150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Trois niveaux. Une méthode.</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Seuil → ET → règle complète.</a:t>
            </a:r>
          </a:p>
        </p:txBody>
      </p:sp>
      <p:pic>
        <p:nvPicPr>
          <p:cNvPr id="8" name="Picture 7" descr="image.png"/>
          <p:cNvPicPr>
            <a:picLocks noChangeAspect="1"/>
          </p:cNvPicPr>
          <p:nvPr/>
        </p:nvPicPr>
        <p:blipFill>
          <a:blip r:embed="rId3"/>
          <a:stretch>
            <a:fillRect/>
          </a:stretch>
        </p:blipFill>
        <p:spPr>
          <a:xfrm>
            <a:off x="2819715" y="2743200"/>
            <a:ext cx="6552265"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T+150–165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Point de maîtrise · 15 min</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Seul. Sans aide. Sans mémo.</a:t>
            </a:r>
          </a:p>
        </p:txBody>
      </p:sp>
      <p:sp>
        <p:nvSpPr>
          <p:cNvPr id="8" name="Rounded Rectangle 7"/>
          <p:cNvSpPr/>
          <p:nvPr/>
        </p:nvSpPr>
        <p:spPr>
          <a:xfrm>
            <a:off x="1188720" y="2944368"/>
            <a:ext cx="9784080" cy="2286000"/>
          </a:xfrm>
          <a:prstGeom prst="roundRect">
            <a:avLst/>
          </a:prstGeom>
          <a:solidFill>
            <a:srgbClr val="EAF8F8"/>
          </a:solidFill>
          <a:ln>
            <a:solidFill>
              <a:srgbClr val="62C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3703320"/>
            <a:ext cx="9144000" cy="822960"/>
          </a:xfrm>
          <a:prstGeom prst="rect">
            <a:avLst/>
          </a:prstGeom>
          <a:noFill/>
        </p:spPr>
        <p:txBody>
          <a:bodyPr wrap="square" lIns="0" tIns="0" rIns="0">
            <a:spAutoFit/>
          </a:bodyPr>
          <a:lstStyle/>
          <a:p>
            <a:pPr algn="ctr">
              <a:spcAft>
                <a:spcPts val="0"/>
              </a:spcAft>
              <a:defRPr sz="3400" b="1">
                <a:solidFill>
                  <a:srgbClr val="142C34"/>
                </a:solidFill>
                <a:latin typeface="Inter"/>
              </a:defRPr>
            </a:pPr>
            <a:r>
              <a:t>À toi de jouer.</a:t>
            </a:r>
          </a:p>
        </p:txBody>
      </p:sp>
      <p:sp>
        <p:nvSpPr>
          <p:cNvPr id="10" name="TextBox 9"/>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1" name="TextBox 10"/>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T+165–175 min</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Trois opérateurs, une méthode.</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ET = les deux · OU = au moins un · NON = inverse</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LOGIQUE &amp; JAVASCRIPT</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Pour ceux qui ont terminé.</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Le gardien des règles.</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den_logo.png"/>
          <p:cNvPicPr>
            <a:picLocks noChangeAspect="1"/>
          </p:cNvPicPr>
          <p:nvPr/>
        </p:nvPicPr>
        <p:blipFill>
          <a:blip r:embed="rId2"/>
          <a:stretch>
            <a:fillRect/>
          </a:stretch>
        </p:blipFill>
        <p:spPr>
          <a:xfrm>
            <a:off x="438912" y="164592"/>
            <a:ext cx="731520" cy="211328"/>
          </a:xfrm>
          <a:prstGeom prst="rect">
            <a:avLst/>
          </a:prstGeom>
        </p:spPr>
      </p:pic>
      <p:sp>
        <p:nvSpPr>
          <p:cNvPr id="3" name="TextBox 2"/>
          <p:cNvSpPr txBox="1"/>
          <p:nvPr/>
        </p:nvSpPr>
        <p:spPr>
          <a:xfrm>
            <a:off x="1508760" y="182880"/>
            <a:ext cx="5486400" cy="256032"/>
          </a:xfrm>
          <a:prstGeom prst="rect">
            <a:avLst/>
          </a:prstGeom>
          <a:noFill/>
        </p:spPr>
        <p:txBody>
          <a:bodyPr wrap="square" lIns="0" tIns="0" rIns="0">
            <a:spAutoFit/>
          </a:bodyPr>
          <a:lstStyle/>
          <a:p>
            <a:pPr>
              <a:spcAft>
                <a:spcPts val="0"/>
              </a:spcAft>
              <a:defRPr sz="1000" b="1">
                <a:solidFill>
                  <a:srgbClr val="526A72"/>
                </a:solidFill>
                <a:latin typeface="Inter"/>
              </a:defRPr>
            </a:pPr>
            <a:r>
              <a:t>1 OCTOBRE 2026  /  S04  /  A1</a:t>
            </a:r>
          </a:p>
        </p:txBody>
      </p:sp>
      <p:sp>
        <p:nvSpPr>
          <p:cNvPr id="4" name="TextBox 3"/>
          <p:cNvSpPr txBox="1"/>
          <p:nvPr/>
        </p:nvSpPr>
        <p:spPr>
          <a:xfrm>
            <a:off x="9235440" y="182880"/>
            <a:ext cx="2468880" cy="256032"/>
          </a:xfrm>
          <a:prstGeom prst="rect">
            <a:avLst/>
          </a:prstGeom>
          <a:noFill/>
        </p:spPr>
        <p:txBody>
          <a:bodyPr wrap="square" lIns="0" tIns="0" rIns="0">
            <a:spAutoFit/>
          </a:bodyPr>
          <a:lstStyle/>
          <a:p>
            <a:pPr>
              <a:spcAft>
                <a:spcPts val="0"/>
              </a:spcAft>
              <a:defRPr sz="1000" b="1">
                <a:solidFill>
                  <a:srgbClr val="526A72"/>
                </a:solidFill>
                <a:latin typeface="Inter"/>
              </a:defRPr>
            </a:pPr>
            <a:r>
              <a:t>LOGIQUE &amp; JAVASCRIPT</a:t>
            </a:r>
          </a:p>
        </p:txBody>
      </p:sp>
      <p:sp>
        <p:nvSpPr>
          <p:cNvPr id="5" name="TextBox 4"/>
          <p:cNvSpPr txBox="1"/>
          <p:nvPr/>
        </p:nvSpPr>
        <p:spPr>
          <a:xfrm>
            <a:off x="566928" y="713232"/>
            <a:ext cx="11064240" cy="914400"/>
          </a:xfrm>
          <a:prstGeom prst="rect">
            <a:avLst/>
          </a:prstGeom>
          <a:noFill/>
        </p:spPr>
        <p:txBody>
          <a:bodyPr wrap="square" lIns="0" tIns="0" rIns="0">
            <a:spAutoFit/>
          </a:bodyPr>
          <a:lstStyle/>
          <a:p>
            <a:pPr>
              <a:spcAft>
                <a:spcPts val="0"/>
              </a:spcAft>
              <a:defRPr sz="3400" b="1">
                <a:solidFill>
                  <a:srgbClr val="142C34"/>
                </a:solidFill>
                <a:latin typeface="Inter"/>
              </a:defRPr>
            </a:pPr>
            <a:r>
              <a:t>Et pour aller plus loin ?</a:t>
            </a:r>
          </a:p>
        </p:txBody>
      </p:sp>
      <p:sp>
        <p:nvSpPr>
          <p:cNvPr id="6" name="Rounded Rectangle 5"/>
          <p:cNvSpPr/>
          <p:nvPr/>
        </p:nvSpPr>
        <p:spPr>
          <a:xfrm>
            <a:off x="566928" y="1527048"/>
            <a:ext cx="1508760" cy="50292"/>
          </a:xfrm>
          <a:prstGeom prst="roundRect">
            <a:avLst/>
          </a:prstGeom>
          <a:solidFill>
            <a:srgbClr val="62C6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773936"/>
            <a:ext cx="10972800" cy="960120"/>
          </a:xfrm>
          <a:prstGeom prst="rect">
            <a:avLst/>
          </a:prstGeom>
          <a:noFill/>
        </p:spPr>
        <p:txBody>
          <a:bodyPr wrap="square" lIns="0" tIns="0" rIns="0">
            <a:spAutoFit/>
          </a:bodyPr>
          <a:lstStyle/>
          <a:p>
            <a:pPr>
              <a:spcAft>
                <a:spcPts val="0"/>
              </a:spcAft>
              <a:defRPr sz="1800" b="0">
                <a:solidFill>
                  <a:srgbClr val="526A72"/>
                </a:solidFill>
                <a:latin typeface="Inter"/>
              </a:defRPr>
            </a:pPr>
            <a:r>
              <a:t>Un ticket, au moins 14 ans ou un accompagnateur… et un lieu ouvert.</a:t>
            </a:r>
          </a:p>
        </p:txBody>
      </p:sp>
      <p:pic>
        <p:nvPicPr>
          <p:cNvPr id="8" name="Picture 7" descr="image.png"/>
          <p:cNvPicPr>
            <a:picLocks noChangeAspect="1"/>
          </p:cNvPicPr>
          <p:nvPr/>
        </p:nvPicPr>
        <p:blipFill>
          <a:blip r:embed="rId3"/>
          <a:stretch>
            <a:fillRect/>
          </a:stretch>
        </p:blipFill>
        <p:spPr>
          <a:xfrm>
            <a:off x="2694512" y="2743200"/>
            <a:ext cx="6802670" cy="3337560"/>
          </a:xfrm>
          <a:prstGeom prst="rect">
            <a:avLst/>
          </a:prstGeom>
        </p:spPr>
      </p:pic>
      <p:sp>
        <p:nvSpPr>
          <p:cNvPr id="9" name="TextBox 8"/>
          <p:cNvSpPr txBox="1"/>
          <p:nvPr/>
        </p:nvSpPr>
        <p:spPr>
          <a:xfrm>
            <a:off x="576072" y="6446520"/>
            <a:ext cx="9144000" cy="228600"/>
          </a:xfrm>
          <a:prstGeom prst="rect">
            <a:avLst/>
          </a:prstGeom>
          <a:noFill/>
        </p:spPr>
        <p:txBody>
          <a:bodyPr wrap="square" lIns="0" tIns="0" rIns="0">
            <a:spAutoFit/>
          </a:bodyPr>
          <a:lstStyle/>
          <a:p>
            <a:pPr>
              <a:spcAft>
                <a:spcPts val="0"/>
              </a:spcAft>
              <a:defRPr sz="900" b="0">
                <a:solidFill>
                  <a:srgbClr val="526A72"/>
                </a:solidFill>
                <a:latin typeface="Inter"/>
              </a:defRPr>
            </a:pPr>
            <a:r>
              <a:t>EDEN School · Observe, code, teste, explique.</a:t>
            </a:r>
          </a:p>
        </p:txBody>
      </p:sp>
      <p:sp>
        <p:nvSpPr>
          <p:cNvPr id="10" name="TextBox 9"/>
          <p:cNvSpPr txBox="1"/>
          <p:nvPr/>
        </p:nvSpPr>
        <p:spPr>
          <a:xfrm>
            <a:off x="10661904" y="6428232"/>
            <a:ext cx="914400" cy="228600"/>
          </a:xfrm>
          <a:prstGeom prst="rect">
            <a:avLst/>
          </a:prstGeom>
          <a:noFill/>
        </p:spPr>
        <p:txBody>
          <a:bodyPr wrap="square" lIns="0" tIns="0" rIns="0">
            <a:spAutoFit/>
          </a:bodyPr>
          <a:lstStyle/>
          <a:p>
            <a:pPr>
              <a:spcAft>
                <a:spcPts val="0"/>
              </a:spcAft>
              <a:defRPr sz="1000" b="1">
                <a:solidFill>
                  <a:srgbClr val="526A72"/>
                </a:solidFill>
                <a:latin typeface="Inter"/>
              </a:defRPr>
            </a:pPr>
            <a: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Deux règles. Une décision. · Diagnostic pratique V6</dc:title>
  <dc:subject/>
  <dc:creator>EDEN School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